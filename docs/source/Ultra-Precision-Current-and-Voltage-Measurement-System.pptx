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Bitter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1D1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66" d="100"/>
          <a:sy n="66" d="100"/>
        </p:scale>
        <p:origin x="140" y="-1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37875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B1012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C1D1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2155746"/>
            <a:ext cx="7556421" cy="212633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Ultra‑Precision Current and Voltage Measurement System</a:t>
            </a:r>
            <a:endParaRPr lang="en-US" sz="4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93790" y="4622244"/>
            <a:ext cx="783586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Compact, low‑loading measurement module for 1 V–12 V and 1 µA–100 mA ranges. Designed around STM32 control, ADS1115 16‑bit conversion, OLED UI and UART logging with emphasis on minimal DUT loading and robust low‑current accuracy.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970717"/>
            <a:ext cx="4536519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Project Overview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280190" y="1877854"/>
            <a:ext cx="3664744" cy="3484364"/>
          </a:xfrm>
          <a:prstGeom prst="roundRect">
            <a:avLst>
              <a:gd name="adj" fmla="val 976"/>
            </a:avLst>
          </a:prstGeom>
          <a:solidFill>
            <a:srgbClr val="3B3C3E"/>
          </a:solidFill>
          <a:ln/>
        </p:spPr>
      </p:sp>
      <p:sp>
        <p:nvSpPr>
          <p:cNvPr id="5" name="Text 2"/>
          <p:cNvSpPr/>
          <p:nvPr/>
        </p:nvSpPr>
        <p:spPr>
          <a:xfrm>
            <a:off x="6507004" y="2104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Objectives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6507004" y="2595086"/>
            <a:ext cx="3334226" cy="25403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Measure voltage 1–12 V at </a:t>
            </a:r>
            <a:r>
              <a:rPr lang="en-US" sz="1750" dirty="0" smtClean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0.001 V </a:t>
            </a: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steps; measure current 1 µA–100 mA across 3 ranges; sample ≥2 kS/s; present on OLED and stream CSV over UART; keep DUT loading minimal.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Shape 4"/>
          <p:cNvSpPr/>
          <p:nvPr/>
        </p:nvSpPr>
        <p:spPr>
          <a:xfrm>
            <a:off x="10171748" y="1877854"/>
            <a:ext cx="3664863" cy="3484364"/>
          </a:xfrm>
          <a:prstGeom prst="roundRect">
            <a:avLst>
              <a:gd name="adj" fmla="val 976"/>
            </a:avLst>
          </a:prstGeom>
          <a:solidFill>
            <a:srgbClr val="3B3C3E"/>
          </a:solidFill>
          <a:ln/>
        </p:spPr>
      </p:sp>
      <p:sp>
        <p:nvSpPr>
          <p:cNvPr id="8" name="Text 5"/>
          <p:cNvSpPr/>
          <p:nvPr/>
        </p:nvSpPr>
        <p:spPr>
          <a:xfrm>
            <a:off x="10398562" y="210466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Core Components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10398562" y="2595086"/>
            <a:ext cx="3211235" cy="24945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STM32F411CEU6 (Blackpill)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ADS1115 16‑bit ADC (I²C)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SH1107 128×128 OLED (SPI)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3P4T rotary range switch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LM2596 buck + 2× Li‑ion batteries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280190" y="5589032"/>
            <a:ext cx="7556421" cy="1669852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/>
        </p:spPr>
      </p:sp>
      <p:sp>
        <p:nvSpPr>
          <p:cNvPr id="11" name="Text 8"/>
          <p:cNvSpPr/>
          <p:nvPr/>
        </p:nvSpPr>
        <p:spPr>
          <a:xfrm>
            <a:off x="6507004" y="581584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Key Requirement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6507004" y="6306264"/>
            <a:ext cx="7102793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Minimal impact on DUT: reduce divider and sensing loading to sub‑100s µA levels where possible.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618720" y="7530253"/>
            <a:ext cx="1920240" cy="651510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3006"/>
            <a:ext cx="10260211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Voltage Measurement — Divider Design Evolution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163610"/>
            <a:ext cx="914876" cy="11435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992154" y="3163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4 × 330 Ω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1992154" y="3654028"/>
            <a:ext cx="296025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Loading ~9.1 mA at 12 V — too heavy. High DUT loading and power loss; rejected.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3163610"/>
            <a:ext cx="914876" cy="114359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34257" y="3163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4 × 10 kΩ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4"/>
          <p:cNvSpPr/>
          <p:nvPr/>
        </p:nvSpPr>
        <p:spPr>
          <a:xfrm>
            <a:off x="6434257" y="3654028"/>
            <a:ext cx="2960251" cy="10887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Loading ~0.3 mA — improved but not optimal for µA‑level sensitivity.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77995" y="3163610"/>
            <a:ext cx="914876" cy="114359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876359" y="3163610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4 × 22 kΩ (Final)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6"/>
          <p:cNvSpPr/>
          <p:nvPr/>
        </p:nvSpPr>
        <p:spPr>
          <a:xfrm>
            <a:off x="10876359" y="3654028"/>
            <a:ext cx="296025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Division 4:1 → 12 V → 3 V to ADC. Loading 136 µA at 12 V. 0.1 µF ADC input capacitor for filtering.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7"/>
          <p:cNvSpPr/>
          <p:nvPr/>
        </p:nvSpPr>
        <p:spPr>
          <a:xfrm>
            <a:off x="793790" y="536078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Lesson: </a:t>
            </a:r>
            <a:r>
              <a:rPr lang="en-US" sz="1750" dirty="0" smtClean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Increasing </a:t>
            </a: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divider resistance reduces DUT loading; pair with input capacitor to reject noise without significant RC slowdown at target sampling rate.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618720" y="7518823"/>
            <a:ext cx="1920240" cy="651510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991344" y="1740694"/>
            <a:ext cx="675989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b="1" dirty="0" smtClean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Current Measurement — Op‑Amp Attempts</a:t>
            </a:r>
            <a:endParaRPr lang="en-US" sz="22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5991344" y="2330529"/>
            <a:ext cx="2682359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Attempted Op‑Amp Approaches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5991344" y="2647593"/>
            <a:ext cx="3891082" cy="5664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LM358 and MCP6002 amplifiers were tried on breadboard for low‑side shunt amplification. Observed large offset, bias, instability and oscillations at low currents.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10241994" y="2342078"/>
            <a:ext cx="3891082" cy="1013579"/>
          </a:xfrm>
          <a:prstGeom prst="roundRect">
            <a:avLst>
              <a:gd name="adj" fmla="val 213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401419" y="2501503"/>
            <a:ext cx="1803321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LM358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10401419" y="2818567"/>
            <a:ext cx="3572232" cy="37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High offset ±3 mV and bias currents; produced severe fluctuations at µA currents.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6"/>
          <p:cNvSpPr/>
          <p:nvPr/>
        </p:nvSpPr>
        <p:spPr>
          <a:xfrm>
            <a:off x="10241994" y="3447336"/>
            <a:ext cx="3891082" cy="1013579"/>
          </a:xfrm>
          <a:prstGeom prst="roundRect">
            <a:avLst>
              <a:gd name="adj" fmla="val 2135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0401419" y="3606760"/>
            <a:ext cx="1803321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MCP6002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10401419" y="3923824"/>
            <a:ext cx="3572232" cy="37766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Improved bias but still unstable below 100 µA; sensitive to wiring and breadboard capacitance.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Shape 9"/>
          <p:cNvSpPr/>
          <p:nvPr/>
        </p:nvSpPr>
        <p:spPr>
          <a:xfrm>
            <a:off x="10241994" y="4552593"/>
            <a:ext cx="3891082" cy="1832967"/>
          </a:xfrm>
          <a:prstGeom prst="roundRect">
            <a:avLst>
              <a:gd name="adj" fmla="val 1181"/>
            </a:avLst>
          </a:prstGeom>
          <a:solidFill>
            <a:srgbClr val="1C1D1F"/>
          </a:solidFill>
          <a:ln w="15240">
            <a:solidFill>
              <a:srgbClr val="54555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0401419" y="4712018"/>
            <a:ext cx="1803321" cy="2253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4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Root Causes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10401419" y="5029081"/>
            <a:ext cx="3572232" cy="11970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Dynamic range 1 µA → 100 mA (100k:1) too large for single op‑amp stage.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Offset dominates at low currents (1.5 mV ≈ 150% error at 1 mV signals).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450"/>
              </a:lnSpc>
              <a:buSzPct val="100000"/>
              <a:buChar char="•"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Breadboard wiring introduced noise and oscillation.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12618720" y="7518823"/>
            <a:ext cx="1920240" cy="651510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57845"/>
            <a:ext cx="10306526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Current Measurement — Successful </a:t>
            </a:r>
            <a:r>
              <a:rPr lang="en-US" sz="3550" b="1" dirty="0" smtClean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ADC </a:t>
            </a:r>
            <a:r>
              <a:rPr lang="en-US" sz="35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Method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1878449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Switched passive shunt resistors with appropriate ADC PGA gains provide wide dynamic range with linear, stable results and no op‑amp offset calibration.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859405"/>
            <a:ext cx="3700105" cy="2286833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5429726"/>
            <a:ext cx="414063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Range Table (selected positions)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93790" y="5920145"/>
            <a:ext cx="6379607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Pos 1: 5 Ω → 100–20 mA → Vdrop 500–100 mV (PGA tuned)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Pos 2: 8 Ω → 20–2 mA → 160–16 mV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Pos 3: 10 Ω → 200 µA–1 µA → 2 mV–10 µV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884" y="2859405"/>
            <a:ext cx="3700224" cy="2286833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6884" y="542972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Advantages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/>
          <p:nvPr/>
        </p:nvSpPr>
        <p:spPr>
          <a:xfrm>
            <a:off x="7456884" y="5920145"/>
            <a:ext cx="6379726" cy="12472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Passive and inherently linear (Ohm's Law).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No op‑amp offset errors to correct.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Robust across temperature and wiring conditions.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12618720" y="7541683"/>
            <a:ext cx="1920240" cy="651510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90124"/>
            <a:ext cx="8503325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450"/>
              </a:lnSpc>
              <a:buNone/>
            </a:pPr>
            <a:r>
              <a:rPr lang="en-US" sz="35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Capacitor Filtering — ADC Input Stability</a:t>
            </a:r>
            <a:endParaRPr lang="en-US" sz="3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793790" y="2010728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Placed 0.1 µF ceramic caps at ADS1115 inputs to suppress high‑frequency noise. Empirical cutoff frequencies depend on source resistance (R): fc = 1/(2πRC).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2"/>
          <p:cNvSpPr/>
          <p:nvPr/>
        </p:nvSpPr>
        <p:spPr>
          <a:xfrm>
            <a:off x="793790" y="2991683"/>
            <a:ext cx="13042821" cy="3266837"/>
          </a:xfrm>
          <a:prstGeom prst="roundRect">
            <a:avLst>
              <a:gd name="adj" fmla="val 1042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1410" y="2999303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28224" y="31430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Channel / Source R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5"/>
          <p:cNvSpPr/>
          <p:nvPr/>
        </p:nvSpPr>
        <p:spPr>
          <a:xfrm>
            <a:off x="7545824" y="3143012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Cutoff frequency (approx)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01410" y="3649623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1028224" y="379333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Voltage (A0) — 88 kΩ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7545824" y="379333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≈ 18 Hz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801410" y="4299942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28224" y="444365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Range 1 (A1/A2) — 5 Ω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7545824" y="4443651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≈ 318 kHz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01410" y="4950262"/>
            <a:ext cx="13027581" cy="650319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1028224" y="509397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Range 2 — 8 Ω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7545824" y="5093970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≈ 199 kHz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01410" y="5600581"/>
            <a:ext cx="13027581" cy="650319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28224" y="574428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Range 3 — 10 Ω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7545824" y="5744289"/>
            <a:ext cx="6056352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≈ 159 kHz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793790" y="6513671"/>
            <a:ext cx="13042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Measured improvements: voltage noise reduced from ±15 mV → ±2 mV (≈87%); current noise from ±5 mV → ±0.5 mV (90%). ADC stability improved to ±1 LSB. Critical: always include input caps for reliable low‑level readings.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618720" y="7518823"/>
            <a:ext cx="1920240" cy="651510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8541" y="897255"/>
            <a:ext cx="6174224" cy="506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50"/>
              </a:lnSpc>
              <a:buNone/>
            </a:pPr>
            <a:r>
              <a:rPr lang="en-US" sz="31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Data Output — Display &amp; Logging</a:t>
            </a:r>
            <a:endParaRPr lang="en-US" sz="3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1"/>
          <p:cNvSpPr/>
          <p:nvPr/>
        </p:nvSpPr>
        <p:spPr>
          <a:xfrm>
            <a:off x="708541" y="1854994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OLED (SH1107)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2"/>
          <p:cNvSpPr/>
          <p:nvPr/>
        </p:nvSpPr>
        <p:spPr>
          <a:xfrm>
            <a:off x="708541" y="2351961"/>
            <a:ext cx="3616523" cy="122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SPI pins: PB8, PB9, PB10, PC3. Real‑time display: voltage, current, active range, status. Stable and low‑latency for operator feedback.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4826556" y="1854994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UART to PC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4826556" y="2351961"/>
            <a:ext cx="3616523" cy="18380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USART2 (PA2 TX) at 115200 baud. CSV format: "Voltage(V),Current(mA),Range" — compatible with PuTTY, Python scripts or serial monitors for logging and post‑processing.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708541" y="4555808"/>
            <a:ext cx="3773091" cy="2776538"/>
          </a:xfrm>
          <a:prstGeom prst="roundRect">
            <a:avLst>
              <a:gd name="adj" fmla="val 1094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33807" y="4781074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Failed Extras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933807" y="5205770"/>
            <a:ext cx="3322558" cy="19013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SD Card via SPI — library &amp; level‑shift problems under 3.3 V constraints.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400"/>
              </a:lnSpc>
              <a:buSzPct val="100000"/>
              <a:buChar char="•"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ESP32 WebSocket — timing and power complications; introduced instability.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Shape 8"/>
          <p:cNvSpPr/>
          <p:nvPr/>
        </p:nvSpPr>
        <p:spPr>
          <a:xfrm>
            <a:off x="4662249" y="4555808"/>
            <a:ext cx="3773210" cy="2776538"/>
          </a:xfrm>
          <a:prstGeom prst="roundRect">
            <a:avLst>
              <a:gd name="adj" fmla="val 1094"/>
            </a:avLst>
          </a:prstGeom>
          <a:solidFill>
            <a:srgbClr val="1C1D1F"/>
          </a:solidFill>
          <a:ln w="22860">
            <a:solidFill>
              <a:srgbClr val="54555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887516" y="4781074"/>
            <a:ext cx="2530673" cy="3163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50"/>
              </a:lnSpc>
              <a:buNone/>
            </a:pPr>
            <a:r>
              <a:rPr lang="en-US" sz="19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Backup Strategy</a:t>
            </a:r>
            <a:endParaRPr lang="en-US" sz="19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4887516" y="5205770"/>
            <a:ext cx="3322677" cy="12253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5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Maintain reliable UART logging and local OLED UI as primary operational paths — these saved the project.</a:t>
            </a:r>
            <a:endParaRPr lang="en-US" sz="15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02449" y="311825"/>
            <a:ext cx="2268260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System Architecture</a:t>
            </a:r>
            <a:endParaRPr lang="en-US" sz="17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3402449" y="708660"/>
            <a:ext cx="7825502" cy="1360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050"/>
              </a:lnSpc>
              <a:buNone/>
            </a:pPr>
            <a:r>
              <a:rPr lang="en-US" sz="8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Power and signal flow designed for isolation, low noise and reliable conversion.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7127" y="908447"/>
            <a:ext cx="5356027" cy="425172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26827" y="2795145"/>
            <a:ext cx="962522" cy="4401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Power &amp; Data Flow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 3"/>
          <p:cNvSpPr/>
          <p:nvPr/>
        </p:nvSpPr>
        <p:spPr>
          <a:xfrm>
            <a:off x="7773698" y="1426559"/>
            <a:ext cx="1431922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Battery pack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/>
          <p:nvPr/>
        </p:nvSpPr>
        <p:spPr>
          <a:xfrm>
            <a:off x="7773698" y="1709251"/>
            <a:ext cx="1431922" cy="13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2× Li‑ion (7.4 V)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5386957" y="1360532"/>
            <a:ext cx="143192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DUT interface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5386957" y="1643224"/>
            <a:ext cx="1431923" cy="264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Rotary switch to divider or shunt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 7"/>
          <p:cNvSpPr/>
          <p:nvPr/>
        </p:nvSpPr>
        <p:spPr>
          <a:xfrm>
            <a:off x="5386957" y="4154193"/>
            <a:ext cx="1431923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STM32 core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8"/>
          <p:cNvSpPr/>
          <p:nvPr/>
        </p:nvSpPr>
        <p:spPr>
          <a:xfrm>
            <a:off x="5386957" y="4436885"/>
            <a:ext cx="1431923" cy="264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3.3 V regulator powered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9"/>
          <p:cNvSpPr/>
          <p:nvPr/>
        </p:nvSpPr>
        <p:spPr>
          <a:xfrm>
            <a:off x="7773698" y="4154193"/>
            <a:ext cx="1431922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5 V regulator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773698" y="4436885"/>
            <a:ext cx="1431922" cy="2641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LM2596 buck converter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8290173" y="2803826"/>
            <a:ext cx="1463224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Master switch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 12"/>
          <p:cNvSpPr/>
          <p:nvPr/>
        </p:nvSpPr>
        <p:spPr>
          <a:xfrm>
            <a:off x="8290173" y="3086518"/>
            <a:ext cx="1463224" cy="1320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ON/OFF control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 13"/>
          <p:cNvSpPr/>
          <p:nvPr/>
        </p:nvSpPr>
        <p:spPr>
          <a:xfrm>
            <a:off x="4862656" y="2745625"/>
            <a:ext cx="1463224" cy="22008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700"/>
              </a:lnSpc>
              <a:buNone/>
            </a:pPr>
            <a:r>
              <a:rPr lang="en-US" sz="13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ADC &amp; Display</a:t>
            </a:r>
            <a:endParaRPr 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4"/>
          <p:cNvSpPr/>
          <p:nvPr/>
        </p:nvSpPr>
        <p:spPr>
          <a:xfrm>
            <a:off x="4862656" y="3028317"/>
            <a:ext cx="1463224" cy="2641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000"/>
              </a:lnSpc>
              <a:buNone/>
            </a:pPr>
            <a:r>
              <a:rPr lang="en-US" sz="11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ADS1115 (I²C) and SH1107 (SPI)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8" name="Image 1" descr="preencoded.png"/>
          <p:cNvPicPr>
            <a:picLocks noChangeAspect="1"/>
          </p:cNvPicPr>
          <p:nvPr/>
        </p:nvPicPr>
        <p:blipFill rotWithShape="1">
          <a:blip r:embed="rId4"/>
          <a:srcRect t="14446" b="19609"/>
          <a:stretch/>
        </p:blipFill>
        <p:spPr>
          <a:xfrm>
            <a:off x="3920489" y="5680711"/>
            <a:ext cx="2274966" cy="2263139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245781" y="6593205"/>
            <a:ext cx="1417558" cy="177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1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Pin Summary</a:t>
            </a:r>
            <a:endParaRPr lang="en-US" sz="1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 16"/>
          <p:cNvSpPr/>
          <p:nvPr/>
        </p:nvSpPr>
        <p:spPr>
          <a:xfrm>
            <a:off x="6245781" y="6827044"/>
            <a:ext cx="4989671" cy="6036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PB6, PB7 — ADS1115 (I²C)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PA2 — USART2 TX for PC logging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PB8, PB9, PB10, PC3 — SH1107 OLED (SPI)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1050"/>
              </a:lnSpc>
              <a:buSzPct val="100000"/>
              <a:buChar char="•"/>
            </a:pPr>
            <a:r>
              <a:rPr lang="en-US" sz="8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Various GPIO — rotary switch and range select</a:t>
            </a:r>
            <a:endParaRPr lang="en-US" sz="8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2618720" y="7518823"/>
            <a:ext cx="1920240" cy="651510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76072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21016" y="716280"/>
            <a:ext cx="5634038" cy="524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00"/>
              </a:lnSpc>
              <a:buNone/>
            </a:pPr>
            <a:r>
              <a:rPr lang="en-US" sz="330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Project Timeline &amp; Milestones</a:t>
            </a:r>
            <a:endParaRPr lang="en-US" sz="33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hape 1"/>
          <p:cNvSpPr/>
          <p:nvPr/>
        </p:nvSpPr>
        <p:spPr>
          <a:xfrm>
            <a:off x="6457117" y="1532334"/>
            <a:ext cx="22860" cy="4589621"/>
          </a:xfrm>
          <a:prstGeom prst="roundRect">
            <a:avLst>
              <a:gd name="adj" fmla="val 137741"/>
            </a:avLst>
          </a:prstGeom>
          <a:solidFill>
            <a:srgbClr val="545557"/>
          </a:solidFill>
          <a:ln/>
        </p:spPr>
      </p:sp>
      <p:sp>
        <p:nvSpPr>
          <p:cNvPr id="5" name="Shape 2"/>
          <p:cNvSpPr/>
          <p:nvPr/>
        </p:nvSpPr>
        <p:spPr>
          <a:xfrm>
            <a:off x="6670357" y="1757005"/>
            <a:ext cx="629722" cy="22860"/>
          </a:xfrm>
          <a:prstGeom prst="roundRect">
            <a:avLst>
              <a:gd name="adj" fmla="val 137741"/>
            </a:avLst>
          </a:prstGeom>
          <a:solidFill>
            <a:srgbClr val="545557"/>
          </a:solidFill>
          <a:ln/>
        </p:spPr>
      </p:sp>
      <p:sp>
        <p:nvSpPr>
          <p:cNvPr id="6" name="Shape 3"/>
          <p:cNvSpPr/>
          <p:nvPr/>
        </p:nvSpPr>
        <p:spPr>
          <a:xfrm>
            <a:off x="6221016" y="1532334"/>
            <a:ext cx="472202" cy="472202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7" name="Text 4"/>
          <p:cNvSpPr/>
          <p:nvPr/>
        </p:nvSpPr>
        <p:spPr>
          <a:xfrm>
            <a:off x="6299716" y="1571685"/>
            <a:ext cx="31480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1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5"/>
          <p:cNvSpPr/>
          <p:nvPr/>
        </p:nvSpPr>
        <p:spPr>
          <a:xfrm>
            <a:off x="7506653" y="1604486"/>
            <a:ext cx="3075980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Week 1 — Voltage &amp; OLED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/>
          <p:nvPr/>
        </p:nvSpPr>
        <p:spPr>
          <a:xfrm>
            <a:off x="7506653" y="2048947"/>
            <a:ext cx="6389132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Implemented 4×22 kΩ divider and OLED UI. Op‑amp current sensing failed on breadboard.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6670357" y="3308628"/>
            <a:ext cx="629722" cy="22860"/>
          </a:xfrm>
          <a:prstGeom prst="roundRect">
            <a:avLst>
              <a:gd name="adj" fmla="val 137741"/>
            </a:avLst>
          </a:prstGeom>
          <a:solidFill>
            <a:srgbClr val="545557"/>
          </a:solidFill>
          <a:ln/>
        </p:spPr>
      </p:sp>
      <p:sp>
        <p:nvSpPr>
          <p:cNvPr id="11" name="Shape 8"/>
          <p:cNvSpPr/>
          <p:nvPr/>
        </p:nvSpPr>
        <p:spPr>
          <a:xfrm>
            <a:off x="6221016" y="3083957"/>
            <a:ext cx="472202" cy="472202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2" name="Text 9"/>
          <p:cNvSpPr/>
          <p:nvPr/>
        </p:nvSpPr>
        <p:spPr>
          <a:xfrm>
            <a:off x="6299716" y="3123307"/>
            <a:ext cx="31480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2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10"/>
          <p:cNvSpPr/>
          <p:nvPr/>
        </p:nvSpPr>
        <p:spPr>
          <a:xfrm>
            <a:off x="7506653" y="3156109"/>
            <a:ext cx="3077289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Week 2 — Current Ranges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1"/>
          <p:cNvSpPr/>
          <p:nvPr/>
        </p:nvSpPr>
        <p:spPr>
          <a:xfrm>
            <a:off x="7506653" y="3600569"/>
            <a:ext cx="6389132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Validated 3‑range shunt method and rotary switching. SD card &amp; ESP32 approaches failed; retained UART.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2"/>
          <p:cNvSpPr/>
          <p:nvPr/>
        </p:nvSpPr>
        <p:spPr>
          <a:xfrm>
            <a:off x="6670357" y="4860250"/>
            <a:ext cx="629722" cy="22860"/>
          </a:xfrm>
          <a:prstGeom prst="roundRect">
            <a:avLst>
              <a:gd name="adj" fmla="val 137741"/>
            </a:avLst>
          </a:prstGeom>
          <a:solidFill>
            <a:srgbClr val="545557"/>
          </a:solidFill>
          <a:ln/>
        </p:spPr>
      </p:sp>
      <p:sp>
        <p:nvSpPr>
          <p:cNvPr id="16" name="Shape 13"/>
          <p:cNvSpPr/>
          <p:nvPr/>
        </p:nvSpPr>
        <p:spPr>
          <a:xfrm>
            <a:off x="6221016" y="4635579"/>
            <a:ext cx="472202" cy="472202"/>
          </a:xfrm>
          <a:prstGeom prst="roundRect">
            <a:avLst>
              <a:gd name="adj" fmla="val 6668"/>
            </a:avLst>
          </a:prstGeom>
          <a:solidFill>
            <a:srgbClr val="3B3C3E"/>
          </a:solidFill>
          <a:ln/>
        </p:spPr>
      </p:sp>
      <p:sp>
        <p:nvSpPr>
          <p:cNvPr id="17" name="Text 14"/>
          <p:cNvSpPr/>
          <p:nvPr/>
        </p:nvSpPr>
        <p:spPr>
          <a:xfrm>
            <a:off x="6299716" y="4674930"/>
            <a:ext cx="314801" cy="393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50"/>
              </a:lnSpc>
              <a:buNone/>
            </a:pPr>
            <a:r>
              <a:rPr lang="en-US" sz="24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3</a:t>
            </a:r>
            <a:endParaRPr lang="en-US" sz="2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 15"/>
          <p:cNvSpPr/>
          <p:nvPr/>
        </p:nvSpPr>
        <p:spPr>
          <a:xfrm>
            <a:off x="7506653" y="4707731"/>
            <a:ext cx="3770233" cy="328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Week 3 — Calibration &amp; Finalize</a:t>
            </a:r>
            <a:endParaRPr lang="en-US" sz="20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6"/>
          <p:cNvSpPr/>
          <p:nvPr/>
        </p:nvSpPr>
        <p:spPr>
          <a:xfrm>
            <a:off x="7506653" y="5152192"/>
            <a:ext cx="6389132" cy="969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Calibrated ranges, tuned PGA gains, reduced noise ~90% with input caps. System validated end‑to‑end. The enclosure was finalized.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7"/>
          <p:cNvSpPr/>
          <p:nvPr/>
        </p:nvSpPr>
        <p:spPr>
          <a:xfrm>
            <a:off x="6221016" y="6340435"/>
            <a:ext cx="7674769" cy="1172766"/>
          </a:xfrm>
          <a:prstGeom prst="roundRect">
            <a:avLst>
              <a:gd name="adj" fmla="val 2685"/>
            </a:avLst>
          </a:prstGeom>
          <a:solidFill>
            <a:srgbClr val="2A2C20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0923" y="6647617"/>
            <a:ext cx="262295" cy="209907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6903125" y="6587014"/>
            <a:ext cx="6782753" cy="64650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PROJECT STATUS: Completed — measurement specs and logging targets met. Final verification passed.</a:t>
            </a:r>
            <a:endParaRPr lang="en-US" sz="16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12618720" y="7518823"/>
            <a:ext cx="1920240" cy="651510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930" y="646509"/>
            <a:ext cx="6683216" cy="5542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450" b="1" dirty="0">
                <a:solidFill>
                  <a:srgbClr val="E1E5CD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Conclusion, Lessons &amp; Next Steps</a:t>
            </a:r>
            <a:endParaRPr lang="en-US" sz="34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75930" y="1634014"/>
            <a:ext cx="4215051" cy="5354598"/>
          </a:xfrm>
          <a:prstGeom prst="roundRect">
            <a:avLst>
              <a:gd name="adj" fmla="val 789"/>
            </a:avLst>
          </a:prstGeom>
          <a:solidFill>
            <a:srgbClr val="3B3C3E"/>
          </a:solidFill>
          <a:ln/>
        </p:spPr>
      </p:sp>
      <p:sp>
        <p:nvSpPr>
          <p:cNvPr id="4" name="Text 2"/>
          <p:cNvSpPr/>
          <p:nvPr/>
        </p:nvSpPr>
        <p:spPr>
          <a:xfrm>
            <a:off x="997625" y="1855708"/>
            <a:ext cx="3027521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Specifications Achieved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 3"/>
          <p:cNvSpPr/>
          <p:nvPr/>
        </p:nvSpPr>
        <p:spPr>
          <a:xfrm>
            <a:off x="997625" y="2332077"/>
            <a:ext cx="3771662" cy="17531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Voltage: 1–12 V @ 0.1 V resolution. Current ranges: 100 mA–20 mA, 20 mA–2 mA, 200 µA–1 µA. OLED and UART logging functional. Maximum DUT loading ≈ 136 µA.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4"/>
          <p:cNvSpPr/>
          <p:nvPr/>
        </p:nvSpPr>
        <p:spPr>
          <a:xfrm>
            <a:off x="5207556" y="1634014"/>
            <a:ext cx="4215170" cy="5354598"/>
          </a:xfrm>
          <a:prstGeom prst="roundRect">
            <a:avLst>
              <a:gd name="adj" fmla="val 789"/>
            </a:avLst>
          </a:prstGeom>
          <a:solidFill>
            <a:srgbClr val="3B3C3E"/>
          </a:solidFill>
          <a:ln/>
        </p:spPr>
      </p:sp>
      <p:sp>
        <p:nvSpPr>
          <p:cNvPr id="7" name="Text 5"/>
          <p:cNvSpPr/>
          <p:nvPr/>
        </p:nvSpPr>
        <p:spPr>
          <a:xfrm>
            <a:off x="5429250" y="185570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Key Lessons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6"/>
          <p:cNvSpPr/>
          <p:nvPr/>
        </p:nvSpPr>
        <p:spPr>
          <a:xfrm>
            <a:off x="5429250" y="2332077"/>
            <a:ext cx="3771781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High‑value voltage dividers reduce DUT loading.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2"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Shunt resistors with range switching outperform op‑amp front ends for 100k:1 dynamic range.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3"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0.1 µF input capacitors drastically reduce ADC noise and stabilize readings.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Font typeface="+mj-lt"/>
              <a:buAutoNum type="arabicPeriod" startAt="4"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Maintain simple, reliable backup outputs (UART) when advanced logging fails.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9639300" y="1634014"/>
            <a:ext cx="4215170" cy="5354598"/>
          </a:xfrm>
          <a:prstGeom prst="roundRect">
            <a:avLst>
              <a:gd name="adj" fmla="val 789"/>
            </a:avLst>
          </a:prstGeom>
          <a:solidFill>
            <a:srgbClr val="3B3C3E"/>
          </a:solidFill>
          <a:ln/>
        </p:spPr>
      </p:sp>
      <p:sp>
        <p:nvSpPr>
          <p:cNvPr id="10" name="Text 8"/>
          <p:cNvSpPr/>
          <p:nvPr/>
        </p:nvSpPr>
        <p:spPr>
          <a:xfrm>
            <a:off x="9860994" y="1855708"/>
            <a:ext cx="2771180" cy="346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C2C4B5"/>
                </a:solidFill>
                <a:latin typeface="Times New Roman" panose="02020603050405020304" pitchFamily="18" charset="0"/>
                <a:ea typeface="Outfit Bold" pitchFamily="34" charset="-122"/>
                <a:cs typeface="Times New Roman" panose="02020603050405020304" pitchFamily="18" charset="0"/>
              </a:rPr>
              <a:t>Future Improvements</a:t>
            </a:r>
            <a:endParaRPr lang="en-US" sz="21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9860994" y="2332077"/>
            <a:ext cx="3771781" cy="36578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Auto‑ranging with analog switches or MCU‑controlled relays for seamless transitions.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Custom PCB and careful ground routing to reduce parasitic noise and eliminate breadboard effects.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lnSpc>
                <a:spcPts val="2750"/>
              </a:lnSpc>
              <a:buSzPct val="100000"/>
              <a:buChar char="•"/>
            </a:pPr>
            <a:r>
              <a:rPr lang="en-US" sz="1700" dirty="0">
                <a:solidFill>
                  <a:srgbClr val="C2C4B5"/>
                </a:solidFill>
                <a:latin typeface="Times New Roman" panose="02020603050405020304" pitchFamily="18" charset="0"/>
                <a:ea typeface="Bitter" pitchFamily="34" charset="-122"/>
                <a:cs typeface="Times New Roman" panose="02020603050405020304" pitchFamily="18" charset="0"/>
              </a:rPr>
              <a:t>Proper level‑shifters and power domain design for reliable SD card logging.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775930" y="7232332"/>
            <a:ext cx="13078539" cy="35063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12618720" y="7518823"/>
            <a:ext cx="1920240" cy="651510"/>
          </a:xfrm>
          <a:prstGeom prst="rect">
            <a:avLst/>
          </a:prstGeom>
          <a:solidFill>
            <a:srgbClr val="1C1D1F"/>
          </a:solidFill>
          <a:ln>
            <a:solidFill>
              <a:srgbClr val="1C1D1F"/>
            </a:solidFill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1049</Words>
  <Application>Microsoft Office PowerPoint</Application>
  <PresentationFormat>Custom</PresentationFormat>
  <Paragraphs>118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Outfit Bold</vt:lpstr>
      <vt:lpstr>Times New Roman</vt:lpstr>
      <vt:lpstr>Arial</vt:lpstr>
      <vt:lpstr>Bitter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Shehara Perera</dc:creator>
  <cp:lastModifiedBy>User</cp:lastModifiedBy>
  <cp:revision>8</cp:revision>
  <dcterms:created xsi:type="dcterms:W3CDTF">2026-02-26T14:51:24Z</dcterms:created>
  <dcterms:modified xsi:type="dcterms:W3CDTF">2026-02-26T16:00:23Z</dcterms:modified>
</cp:coreProperties>
</file>